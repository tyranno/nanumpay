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198C5-98AD-A514-5DF8-A685747F6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CE1954-AB4C-61F9-F08E-0C7D3C6CF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A7588-4ACB-C366-7E05-23A7A2AD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2B4DD6-98E5-593B-FA48-928810C8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D7AFD8-CF58-FC2F-27B7-8B941922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1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215AC-3F32-82C7-4211-3A7DD6C5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CDC8EF-4221-171C-F391-21E11ED70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EA78E-21E7-4FF2-048E-AA5C1806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89F67-5A92-39D5-70B5-32274DDB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2A300C-2591-E8DE-54F5-736FF63F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48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FD817-E9A2-6B0B-6AB8-EBC43A943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40BAE2-6812-AC77-49E3-77FC3D00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F8366F-39F4-6B50-1054-0F7CF1EC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9EDA1A-628A-69AD-DBF7-C97A1FFE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AF1CE-223C-CA78-DD0B-BA28A11C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0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D776-44F4-3006-04A8-667BD561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856395-216B-E064-C77E-EA793B022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35D1FA-67DC-8EBC-3661-17313B0D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A867C8-C437-AA54-01DE-599BB65B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53E5A-5BD5-E6D6-5F4D-2AD3AF3A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C3EFB5-26A5-1BE9-FDF7-A28CB23B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05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0D6F8-7571-3C2E-3F49-ABC6DDA1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15B609-A84C-C738-6A8F-6821FDE4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D7883E-BF7A-C24A-3AAE-51F3F055D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032DC6-F487-F97E-87E9-D710CAEE8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0A75DA-42E8-167A-33ED-0B616D870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4CBC37-0FF4-7079-44AE-93FC0342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BBD819-D1EE-EDAF-F346-0A511DF65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6A83B5-852D-57C2-7A83-0BF5CCDE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54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31E0A-5C28-2F10-3648-C0BEF11A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B375BF-2646-F097-866D-5A6FFAD9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0E6B76-DCBC-BC43-1166-66A788B9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963EEB-4769-4BE2-80C8-33307A83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61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6E5B20-A905-300E-1BBD-B1C9CE26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221C9B-CBBE-AD69-955B-2AACFD9D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06BA1-794D-BA29-C884-1B0A1E00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3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D6D33-06C5-62BC-7F86-8C5E45F6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01353-31C0-2C7F-EFF8-AE98B512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D58920-E756-A0BB-4ED0-F205FDB38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529231-BFBF-63F5-B5A9-2A1A819D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98896E-3FFC-F5E6-8D53-F4982478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1DE48F-4A6F-23F9-5B8A-162CBC83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7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A06E7-18B3-8371-3C69-9D3C424F1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5BF161-B278-AAA3-9711-5BC8FA1CE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AD179A-D314-3D40-C7A1-C51C78B58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9AE745-1413-12C2-1943-D7C7FB84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004B98-2EEB-8F5E-C088-A31A43BA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7E41E-6129-BBD7-CEB2-07FAA1C5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35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3F820-ADA2-9E67-C205-D8E1241E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72278D-23E5-87DE-BA22-4EB57BBFB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A667D-CA20-7863-C689-45AF4165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9FDCF-4CE2-30AB-77FD-E69F96C7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D05AD6-B20F-2B6C-AFBC-67FC4513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70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621B73-A682-BD2B-D8D0-5E1AAC078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2396D1-9FFE-3CFE-34EF-5C9C19B5D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E1E28A-CB48-8903-26DA-000BEBA8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5633D3-82A9-7899-5E84-FF7EB91A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AA2F4-1D93-F62A-568F-A129D199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2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CF1B13-3DDC-EA01-E4ED-B27564A0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30BA8-D816-1D89-5E8F-C8972335B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25A2E7-9818-910F-36BA-5A0ED84CE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DC51D-7BC2-498E-95EC-930DA5C7E04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6AAAE-74F0-AD70-4373-9CA110F50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3B764E-769A-65EC-3D0B-D7423B197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0D52F-7D93-44D2-81EB-2BF87C051E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33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980F84-7326-041B-DD53-29CBC0D3C101}"/>
              </a:ext>
            </a:extLst>
          </p:cNvPr>
          <p:cNvSpPr txBox="1"/>
          <p:nvPr/>
        </p:nvSpPr>
        <p:spPr>
          <a:xfrm>
            <a:off x="414528" y="687062"/>
            <a:ext cx="44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추가 조건/제한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A3BFD98-B655-BAB9-4A71-594450841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273907"/>
              </p:ext>
            </p:extLst>
          </p:nvPr>
        </p:nvGraphicFramePr>
        <p:xfrm>
          <a:off x="414528" y="1056394"/>
          <a:ext cx="3975099" cy="2019300"/>
        </p:xfrm>
        <a:graphic>
          <a:graphicData uri="http://schemas.openxmlformats.org/drawingml/2006/table">
            <a:tbl>
              <a:tblPr/>
              <a:tblGrid>
                <a:gridCol w="684706">
                  <a:extLst>
                    <a:ext uri="{9D8B030D-6E8A-4147-A177-3AD203B41FA5}">
                      <a16:colId xmlns:a16="http://schemas.microsoft.com/office/drawing/2014/main" val="2205119969"/>
                    </a:ext>
                  </a:extLst>
                </a:gridCol>
                <a:gridCol w="684706">
                  <a:extLst>
                    <a:ext uri="{9D8B030D-6E8A-4147-A177-3AD203B41FA5}">
                      <a16:colId xmlns:a16="http://schemas.microsoft.com/office/drawing/2014/main" val="4232114476"/>
                    </a:ext>
                  </a:extLst>
                </a:gridCol>
                <a:gridCol w="684706">
                  <a:extLst>
                    <a:ext uri="{9D8B030D-6E8A-4147-A177-3AD203B41FA5}">
                      <a16:colId xmlns:a16="http://schemas.microsoft.com/office/drawing/2014/main" val="3510007546"/>
                    </a:ext>
                  </a:extLst>
                </a:gridCol>
                <a:gridCol w="979510">
                  <a:extLst>
                    <a:ext uri="{9D8B030D-6E8A-4147-A177-3AD203B41FA5}">
                      <a16:colId xmlns:a16="http://schemas.microsoft.com/office/drawing/2014/main" val="3820858112"/>
                    </a:ext>
                  </a:extLst>
                </a:gridCol>
                <a:gridCol w="941471">
                  <a:extLst>
                    <a:ext uri="{9D8B030D-6E8A-4147-A177-3AD203B41FA5}">
                      <a16:colId xmlns:a16="http://schemas.microsoft.com/office/drawing/2014/main" val="411495394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횟수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기본지급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추가지급 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보험유지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조건금액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737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539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5420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1105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67929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807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3375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271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2509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976100-EBCB-8F43-321B-B5BAFF986963}"/>
              </a:ext>
            </a:extLst>
          </p:cNvPr>
          <p:cNvSpPr txBox="1"/>
          <p:nvPr/>
        </p:nvSpPr>
        <p:spPr>
          <a:xfrm>
            <a:off x="304800" y="3182142"/>
            <a:ext cx="44378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ko-KR" altLang="en-US" sz="1200" b="1" dirty="0"/>
              <a:t>F3등급 이상은 보험유지금액이 있어야 추가지급 가능</a:t>
            </a:r>
          </a:p>
          <a:p>
            <a:pPr marL="171450" indent="-171450">
              <a:buFontTx/>
              <a:buChar char="-"/>
            </a:pPr>
            <a:r>
              <a:rPr lang="ko-KR" altLang="en-US" sz="1200" b="1" dirty="0" err="1"/>
              <a:t>개인ID별</a:t>
            </a:r>
            <a:r>
              <a:rPr lang="ko-KR" altLang="en-US" sz="1200" b="1" dirty="0"/>
              <a:t> 보험유지가 아니라. 계좌별 보험 금액 조건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endParaRPr lang="ko-KR" altLang="en-US" sz="1200" b="1" dirty="0"/>
          </a:p>
          <a:p>
            <a:r>
              <a:rPr lang="ko-KR" altLang="en-US" sz="1200" b="1" dirty="0"/>
              <a:t> 예) F3의 계좌에 대해 추가 지급 시 1차, 2차, 3차 지급 시 </a:t>
            </a:r>
            <a:endParaRPr lang="en-US" altLang="ko-KR" sz="1200" b="1" dirty="0"/>
          </a:p>
          <a:p>
            <a:r>
              <a:rPr lang="en-US" altLang="ko-KR" sz="1200" b="1" dirty="0"/>
              <a:t>      </a:t>
            </a:r>
            <a:r>
              <a:rPr lang="ko-KR" altLang="en-US" sz="1200" b="1" dirty="0"/>
              <a:t>보험금 5만원 이상 있어야 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A3348-3E69-52E7-9A87-B4A21EE8CC5F}"/>
              </a:ext>
            </a:extLst>
          </p:cNvPr>
          <p:cNvSpPr txBox="1"/>
          <p:nvPr/>
        </p:nvSpPr>
        <p:spPr>
          <a:xfrm>
            <a:off x="5998719" y="687062"/>
            <a:ext cx="44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추가 조건/제한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4FDE51-E536-5E12-98C3-45506C832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981687"/>
              </p:ext>
            </p:extLst>
          </p:nvPr>
        </p:nvGraphicFramePr>
        <p:xfrm>
          <a:off x="6193282" y="1056394"/>
          <a:ext cx="3975099" cy="2019300"/>
        </p:xfrm>
        <a:graphic>
          <a:graphicData uri="http://schemas.openxmlformats.org/drawingml/2006/table">
            <a:tbl>
              <a:tblPr/>
              <a:tblGrid>
                <a:gridCol w="684706">
                  <a:extLst>
                    <a:ext uri="{9D8B030D-6E8A-4147-A177-3AD203B41FA5}">
                      <a16:colId xmlns:a16="http://schemas.microsoft.com/office/drawing/2014/main" val="1181924011"/>
                    </a:ext>
                  </a:extLst>
                </a:gridCol>
                <a:gridCol w="684706">
                  <a:extLst>
                    <a:ext uri="{9D8B030D-6E8A-4147-A177-3AD203B41FA5}">
                      <a16:colId xmlns:a16="http://schemas.microsoft.com/office/drawing/2014/main" val="2686314120"/>
                    </a:ext>
                  </a:extLst>
                </a:gridCol>
                <a:gridCol w="684706">
                  <a:extLst>
                    <a:ext uri="{9D8B030D-6E8A-4147-A177-3AD203B41FA5}">
                      <a16:colId xmlns:a16="http://schemas.microsoft.com/office/drawing/2014/main" val="4288305144"/>
                    </a:ext>
                  </a:extLst>
                </a:gridCol>
                <a:gridCol w="979510">
                  <a:extLst>
                    <a:ext uri="{9D8B030D-6E8A-4147-A177-3AD203B41FA5}">
                      <a16:colId xmlns:a16="http://schemas.microsoft.com/office/drawing/2014/main" val="2934715140"/>
                    </a:ext>
                  </a:extLst>
                </a:gridCol>
                <a:gridCol w="941471">
                  <a:extLst>
                    <a:ext uri="{9D8B030D-6E8A-4147-A177-3AD203B41FA5}">
                      <a16:colId xmlns:a16="http://schemas.microsoft.com/office/drawing/2014/main" val="35520887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횟수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기본지급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추가지급 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보험유지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조건금액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019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8699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1926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75189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7096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0508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0425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2765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차까지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983733"/>
                  </a:ext>
                </a:extLst>
              </a:tr>
            </a:tbl>
          </a:graphicData>
        </a:graphic>
      </p:graphicFrame>
      <p:sp>
        <p:nvSpPr>
          <p:cNvPr id="14" name="화살표: 줄무늬가 있는 오른쪽 13">
            <a:extLst>
              <a:ext uri="{FF2B5EF4-FFF2-40B4-BE49-F238E27FC236}">
                <a16:creationId xmlns:a16="http://schemas.microsoft.com/office/drawing/2014/main" id="{593CE150-044C-C040-43F1-42B10E001731}"/>
              </a:ext>
            </a:extLst>
          </p:cNvPr>
          <p:cNvSpPr/>
          <p:nvPr/>
        </p:nvSpPr>
        <p:spPr>
          <a:xfrm>
            <a:off x="5034723" y="1823728"/>
            <a:ext cx="513462" cy="48463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08C8B-D37D-1FD7-9EE9-C03974A6366B}"/>
              </a:ext>
            </a:extLst>
          </p:cNvPr>
          <p:cNvSpPr txBox="1"/>
          <p:nvPr/>
        </p:nvSpPr>
        <p:spPr>
          <a:xfrm>
            <a:off x="5961887" y="3182141"/>
            <a:ext cx="44378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ko-KR" altLang="en-US" sz="1200" b="1" dirty="0"/>
              <a:t>F3등급 이상은 보험유지금액이 있어야 추가지급 가능</a:t>
            </a:r>
          </a:p>
          <a:p>
            <a:pPr marL="171450" indent="-171450">
              <a:buFontTx/>
              <a:buChar char="-"/>
            </a:pPr>
            <a:r>
              <a:rPr lang="ko-KR" altLang="en-US" sz="1200" b="1" dirty="0" err="1"/>
              <a:t>개인ID별</a:t>
            </a:r>
            <a:r>
              <a:rPr lang="ko-KR" altLang="en-US" sz="1200" b="1" dirty="0"/>
              <a:t> 보험유지가 아니라. 계좌별 보험 금액 조건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endParaRPr lang="ko-KR" altLang="en-US" sz="1200" b="1" dirty="0"/>
          </a:p>
          <a:p>
            <a:r>
              <a:rPr lang="ko-KR" altLang="en-US" sz="1200" b="1" dirty="0"/>
              <a:t>예) F3의 계좌에 대해 추가 지급 시 1차, 2차, 3차 지급 시 </a:t>
            </a:r>
            <a:endParaRPr lang="en-US" altLang="ko-KR" sz="1200" b="1" dirty="0"/>
          </a:p>
          <a:p>
            <a:r>
              <a:rPr lang="en-US" altLang="ko-KR" sz="1200" b="1" dirty="0"/>
              <a:t>     </a:t>
            </a:r>
            <a:r>
              <a:rPr lang="ko-KR" altLang="en-US" sz="1200" b="1" dirty="0"/>
              <a:t>보험금 5만원 이상 있어야 함</a:t>
            </a:r>
          </a:p>
        </p:txBody>
      </p:sp>
    </p:spTree>
    <p:extLst>
      <p:ext uri="{BB962C8B-B14F-4D97-AF65-F5344CB8AC3E}">
        <p14:creationId xmlns:p14="http://schemas.microsoft.com/office/powerpoint/2010/main" val="237116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A113355-5305-A62B-EF64-92B138E31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941736"/>
              </p:ext>
            </p:extLst>
          </p:nvPr>
        </p:nvGraphicFramePr>
        <p:xfrm>
          <a:off x="311526" y="1152083"/>
          <a:ext cx="11317936" cy="1537325"/>
        </p:xfrm>
        <a:graphic>
          <a:graphicData uri="http://schemas.openxmlformats.org/drawingml/2006/table">
            <a:tbl>
              <a:tblPr/>
              <a:tblGrid>
                <a:gridCol w="422571">
                  <a:extLst>
                    <a:ext uri="{9D8B030D-6E8A-4147-A177-3AD203B41FA5}">
                      <a16:colId xmlns:a16="http://schemas.microsoft.com/office/drawing/2014/main" val="374792350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14008787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83343967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95837515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38427560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10238690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0741608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4018587948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1809183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725131618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280299616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69601491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71214670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4253926586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690942844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72577084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977474157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66880430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28338688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375110367"/>
                    </a:ext>
                  </a:extLst>
                </a:gridCol>
                <a:gridCol w="411596">
                  <a:extLst>
                    <a:ext uri="{9D8B030D-6E8A-4147-A177-3AD203B41FA5}">
                      <a16:colId xmlns:a16="http://schemas.microsoft.com/office/drawing/2014/main" val="7610229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58993835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72423767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317227966"/>
                    </a:ext>
                  </a:extLst>
                </a:gridCol>
                <a:gridCol w="400619">
                  <a:extLst>
                    <a:ext uri="{9D8B030D-6E8A-4147-A177-3AD203B41FA5}">
                      <a16:colId xmlns:a16="http://schemas.microsoft.com/office/drawing/2014/main" val="1265681485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232854814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876524083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135502581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067557487"/>
                    </a:ext>
                  </a:extLst>
                </a:gridCol>
                <a:gridCol w="402448">
                  <a:extLst>
                    <a:ext uri="{9D8B030D-6E8A-4147-A177-3AD203B41FA5}">
                      <a16:colId xmlns:a16="http://schemas.microsoft.com/office/drawing/2014/main" val="2726678362"/>
                    </a:ext>
                  </a:extLst>
                </a:gridCol>
              </a:tblGrid>
              <a:tr h="376487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등록및 승급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30412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10/15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11/14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11/21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11/28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12/5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12/12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12/19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12/26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1/16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1/23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1/30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2/13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2/27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3/13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3/27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4/17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4/24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5/1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982583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F1(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F4(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승급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01535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991800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855667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3-10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931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A7B108F-0AB3-C94B-B23A-94ECA8AA0046}"/>
              </a:ext>
            </a:extLst>
          </p:cNvPr>
          <p:cNvSpPr txBox="1"/>
          <p:nvPr/>
        </p:nvSpPr>
        <p:spPr>
          <a:xfrm>
            <a:off x="289022" y="642238"/>
            <a:ext cx="44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추가 지급 계획</a:t>
            </a:r>
            <a:r>
              <a:rPr lang="en-US" altLang="ko-KR" dirty="0"/>
              <a:t>(</a:t>
            </a:r>
            <a:r>
              <a:rPr lang="ko-KR" altLang="en-US" dirty="0"/>
              <a:t>현재 구현내용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3351F-9936-85E4-844C-8FB14D8CA08D}"/>
              </a:ext>
            </a:extLst>
          </p:cNvPr>
          <p:cNvSpPr txBox="1"/>
          <p:nvPr/>
        </p:nvSpPr>
        <p:spPr>
          <a:xfrm>
            <a:off x="3713899" y="2829921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1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0E0122C-5558-97EE-35CD-60D580C81DAB}"/>
              </a:ext>
            </a:extLst>
          </p:cNvPr>
          <p:cNvSpPr/>
          <p:nvPr/>
        </p:nvSpPr>
        <p:spPr>
          <a:xfrm rot="16200000">
            <a:off x="4174535" y="2486240"/>
            <a:ext cx="575301" cy="11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8D8B00-F552-E56B-1A30-2A4C951C5C01}"/>
              </a:ext>
            </a:extLst>
          </p:cNvPr>
          <p:cNvSpPr txBox="1"/>
          <p:nvPr/>
        </p:nvSpPr>
        <p:spPr>
          <a:xfrm>
            <a:off x="5271248" y="2831934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2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9F0C4BF-A199-1DFD-B0F4-D140BBF5E474}"/>
              </a:ext>
            </a:extLst>
          </p:cNvPr>
          <p:cNvSpPr/>
          <p:nvPr/>
        </p:nvSpPr>
        <p:spPr>
          <a:xfrm rot="16200000">
            <a:off x="5781190" y="2589334"/>
            <a:ext cx="369114" cy="11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E8D0D-5367-5256-0B73-5355F4164D9A}"/>
              </a:ext>
            </a:extLst>
          </p:cNvPr>
          <p:cNvSpPr txBox="1"/>
          <p:nvPr/>
        </p:nvSpPr>
        <p:spPr>
          <a:xfrm>
            <a:off x="7126942" y="2822116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3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A510CBB-82F8-8DD9-6CF3-368DD37A2D3B}"/>
              </a:ext>
            </a:extLst>
          </p:cNvPr>
          <p:cNvSpPr/>
          <p:nvPr/>
        </p:nvSpPr>
        <p:spPr>
          <a:xfrm rot="16200000">
            <a:off x="7756095" y="2698724"/>
            <a:ext cx="130695" cy="11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04C74-C1F7-6B82-E207-9C756550AF39}"/>
              </a:ext>
            </a:extLst>
          </p:cNvPr>
          <p:cNvSpPr txBox="1"/>
          <p:nvPr/>
        </p:nvSpPr>
        <p:spPr>
          <a:xfrm>
            <a:off x="4406156" y="3384176"/>
            <a:ext cx="456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 - 12/26 </a:t>
            </a:r>
            <a:r>
              <a:rPr lang="ko-KR" altLang="en-US" sz="1100" dirty="0"/>
              <a:t>이전에 보험금 </a:t>
            </a:r>
            <a:r>
              <a:rPr lang="en-US" altLang="ko-KR" sz="1100" dirty="0"/>
              <a:t>5</a:t>
            </a:r>
            <a:r>
              <a:rPr lang="ko-KR" altLang="en-US" sz="1100" dirty="0"/>
              <a:t>만원 이상을 가입해야 함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C857388B-9A7C-E2C1-B8E8-9CFED5ADD330}"/>
              </a:ext>
            </a:extLst>
          </p:cNvPr>
          <p:cNvSpPr/>
          <p:nvPr/>
        </p:nvSpPr>
        <p:spPr>
          <a:xfrm>
            <a:off x="4462184" y="3182471"/>
            <a:ext cx="7167278" cy="201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CECF52-5BF0-9ADF-B3F9-3893B3DA4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85" y="3645786"/>
            <a:ext cx="4087903" cy="2968078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849E3-90DC-4C1C-CA48-3A925BEB9655}"/>
              </a:ext>
            </a:extLst>
          </p:cNvPr>
          <p:cNvSpPr/>
          <p:nvPr/>
        </p:nvSpPr>
        <p:spPr>
          <a:xfrm>
            <a:off x="6445622" y="5226423"/>
            <a:ext cx="1981201" cy="645459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4A769B-59D8-C9B6-3FE8-F24322D3970E}"/>
              </a:ext>
            </a:extLst>
          </p:cNvPr>
          <p:cNvSpPr txBox="1"/>
          <p:nvPr/>
        </p:nvSpPr>
        <p:spPr>
          <a:xfrm>
            <a:off x="8885946" y="4949948"/>
            <a:ext cx="215377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지원자 정보 수정에서 </a:t>
            </a:r>
            <a:endParaRPr lang="en-US" altLang="ko-KR" sz="1100" dirty="0"/>
          </a:p>
          <a:p>
            <a:r>
              <a:rPr lang="ko-KR" altLang="en-US" sz="1100" dirty="0"/>
              <a:t>추가 보험 금액을 기입하게 함</a:t>
            </a:r>
          </a:p>
        </p:txBody>
      </p:sp>
      <p:sp>
        <p:nvSpPr>
          <p:cNvPr id="24" name="번개 23">
            <a:extLst>
              <a:ext uri="{FF2B5EF4-FFF2-40B4-BE49-F238E27FC236}">
                <a16:creationId xmlns:a16="http://schemas.microsoft.com/office/drawing/2014/main" id="{E2E207CA-2D83-F818-50D0-8A0ADD592751}"/>
              </a:ext>
            </a:extLst>
          </p:cNvPr>
          <p:cNvSpPr/>
          <p:nvPr/>
        </p:nvSpPr>
        <p:spPr>
          <a:xfrm rot="6190788">
            <a:off x="8482626" y="5090678"/>
            <a:ext cx="347516" cy="390163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03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F6F2-4464-E37C-743E-A46E98E9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3B6DA68-9BDC-9872-8A9D-261A674798F0}"/>
              </a:ext>
            </a:extLst>
          </p:cNvPr>
          <p:cNvGraphicFramePr>
            <a:graphicFrameLocks noGrp="1"/>
          </p:cNvGraphicFramePr>
          <p:nvPr/>
        </p:nvGraphicFramePr>
        <p:xfrm>
          <a:off x="311526" y="1152083"/>
          <a:ext cx="11317936" cy="1537325"/>
        </p:xfrm>
        <a:graphic>
          <a:graphicData uri="http://schemas.openxmlformats.org/drawingml/2006/table">
            <a:tbl>
              <a:tblPr/>
              <a:tblGrid>
                <a:gridCol w="422571">
                  <a:extLst>
                    <a:ext uri="{9D8B030D-6E8A-4147-A177-3AD203B41FA5}">
                      <a16:colId xmlns:a16="http://schemas.microsoft.com/office/drawing/2014/main" val="374792350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14008787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83343967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95837515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38427560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10238690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0741608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4018587948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61809183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725131618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280299616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696014911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171214670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4253926586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690942844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725770842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977474157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66880430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28338688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375110367"/>
                    </a:ext>
                  </a:extLst>
                </a:gridCol>
                <a:gridCol w="411596">
                  <a:extLst>
                    <a:ext uri="{9D8B030D-6E8A-4147-A177-3AD203B41FA5}">
                      <a16:colId xmlns:a16="http://schemas.microsoft.com/office/drawing/2014/main" val="76102295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3589938359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724237673"/>
                    </a:ext>
                  </a:extLst>
                </a:gridCol>
                <a:gridCol w="373179">
                  <a:extLst>
                    <a:ext uri="{9D8B030D-6E8A-4147-A177-3AD203B41FA5}">
                      <a16:colId xmlns:a16="http://schemas.microsoft.com/office/drawing/2014/main" val="2317227966"/>
                    </a:ext>
                  </a:extLst>
                </a:gridCol>
                <a:gridCol w="400619">
                  <a:extLst>
                    <a:ext uri="{9D8B030D-6E8A-4147-A177-3AD203B41FA5}">
                      <a16:colId xmlns:a16="http://schemas.microsoft.com/office/drawing/2014/main" val="1265681485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232854814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876524083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135502581"/>
                    </a:ext>
                  </a:extLst>
                </a:gridCol>
                <a:gridCol w="367691">
                  <a:extLst>
                    <a:ext uri="{9D8B030D-6E8A-4147-A177-3AD203B41FA5}">
                      <a16:colId xmlns:a16="http://schemas.microsoft.com/office/drawing/2014/main" val="3067557487"/>
                    </a:ext>
                  </a:extLst>
                </a:gridCol>
                <a:gridCol w="402448">
                  <a:extLst>
                    <a:ext uri="{9D8B030D-6E8A-4147-A177-3AD203B41FA5}">
                      <a16:colId xmlns:a16="http://schemas.microsoft.com/office/drawing/2014/main" val="2726678362"/>
                    </a:ext>
                  </a:extLst>
                </a:gridCol>
              </a:tblGrid>
              <a:tr h="376487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등록및 승급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미승급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30412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10/15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11/14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11/21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11/28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12/5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12/12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12/19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12/26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1/16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1/23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1/30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2/13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2/27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3/13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3/20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3/27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4/17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4/24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5/1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982583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F1(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F4(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승급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01535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991800"/>
                  </a:ext>
                </a:extLst>
              </a:tr>
              <a:tr h="230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2-7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2-10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855667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3-5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3-6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3-7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3-8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3-9</a:t>
                      </a:r>
                    </a:p>
                  </a:txBody>
                  <a:tcPr marL="5101" marR="5101" marT="5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F4-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3-10</a:t>
                      </a: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931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A52092-5914-53AC-B08B-309E6E013E8E}"/>
              </a:ext>
            </a:extLst>
          </p:cNvPr>
          <p:cNvSpPr txBox="1"/>
          <p:nvPr/>
        </p:nvSpPr>
        <p:spPr>
          <a:xfrm>
            <a:off x="311526" y="651946"/>
            <a:ext cx="44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추가 지급 계획</a:t>
            </a:r>
            <a:r>
              <a:rPr lang="en-US" altLang="ko-KR" dirty="0"/>
              <a:t>(</a:t>
            </a:r>
            <a:r>
              <a:rPr lang="ko-KR" altLang="en-US" dirty="0"/>
              <a:t>변경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EE684F-A5D5-2FCE-1060-E945954713E5}"/>
              </a:ext>
            </a:extLst>
          </p:cNvPr>
          <p:cNvSpPr txBox="1"/>
          <p:nvPr/>
        </p:nvSpPr>
        <p:spPr>
          <a:xfrm>
            <a:off x="3713899" y="2829921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1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32725FB-F25D-8768-7030-B6F805FD5E38}"/>
              </a:ext>
            </a:extLst>
          </p:cNvPr>
          <p:cNvSpPr/>
          <p:nvPr/>
        </p:nvSpPr>
        <p:spPr>
          <a:xfrm rot="16200000">
            <a:off x="4174535" y="2486240"/>
            <a:ext cx="575301" cy="11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CE2FE-626E-4DD3-7EEE-1F08A0060378}"/>
              </a:ext>
            </a:extLst>
          </p:cNvPr>
          <p:cNvSpPr txBox="1"/>
          <p:nvPr/>
        </p:nvSpPr>
        <p:spPr>
          <a:xfrm>
            <a:off x="5271248" y="2831934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2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F0F9509-8F82-8533-4A47-67A00B476E8A}"/>
              </a:ext>
            </a:extLst>
          </p:cNvPr>
          <p:cNvSpPr/>
          <p:nvPr/>
        </p:nvSpPr>
        <p:spPr>
          <a:xfrm rot="16200000">
            <a:off x="5781190" y="2589334"/>
            <a:ext cx="369114" cy="11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F250C3-07F7-E6D7-2904-F52A5E8ABB41}"/>
              </a:ext>
            </a:extLst>
          </p:cNvPr>
          <p:cNvSpPr txBox="1"/>
          <p:nvPr/>
        </p:nvSpPr>
        <p:spPr>
          <a:xfrm>
            <a:off x="7126942" y="2822116"/>
            <a:ext cx="138900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b="1" dirty="0"/>
              <a:t>3</a:t>
            </a:r>
            <a:r>
              <a:rPr lang="ko-KR" altLang="en-US" sz="1000" b="1" dirty="0"/>
              <a:t>차 추가 지급 시작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AF20DB7-E61D-0125-3C2E-FBEF12455EB9}"/>
              </a:ext>
            </a:extLst>
          </p:cNvPr>
          <p:cNvSpPr/>
          <p:nvPr/>
        </p:nvSpPr>
        <p:spPr>
          <a:xfrm rot="16200000">
            <a:off x="7756095" y="2698724"/>
            <a:ext cx="130695" cy="11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5A8D40-EE72-94F4-3AE3-63CAE44A2283}"/>
              </a:ext>
            </a:extLst>
          </p:cNvPr>
          <p:cNvSpPr txBox="1"/>
          <p:nvPr/>
        </p:nvSpPr>
        <p:spPr>
          <a:xfrm>
            <a:off x="4406156" y="3384176"/>
            <a:ext cx="4560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 - 12/26 </a:t>
            </a:r>
            <a:r>
              <a:rPr lang="ko-KR" altLang="en-US" sz="1100" dirty="0"/>
              <a:t>이전에 보험금 </a:t>
            </a:r>
            <a:r>
              <a:rPr lang="en-US" altLang="ko-KR" sz="1400" b="1" dirty="0">
                <a:highlight>
                  <a:srgbClr val="FFFF00"/>
                </a:highlight>
              </a:rPr>
              <a:t>7</a:t>
            </a:r>
            <a:r>
              <a:rPr lang="ko-KR" altLang="en-US" sz="1400" b="1" dirty="0">
                <a:highlight>
                  <a:srgbClr val="FFFF00"/>
                </a:highlight>
              </a:rPr>
              <a:t>만원</a:t>
            </a:r>
            <a:r>
              <a:rPr lang="ko-KR" altLang="en-US" sz="1400" b="1" dirty="0"/>
              <a:t> </a:t>
            </a:r>
            <a:r>
              <a:rPr lang="ko-KR" altLang="en-US" sz="1100" dirty="0"/>
              <a:t>이상을 가입해야 함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F70ED27-C352-66F5-5B2D-03B036A6C41E}"/>
              </a:ext>
            </a:extLst>
          </p:cNvPr>
          <p:cNvSpPr/>
          <p:nvPr/>
        </p:nvSpPr>
        <p:spPr>
          <a:xfrm>
            <a:off x="4462184" y="3216655"/>
            <a:ext cx="7167277" cy="2123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6E4ED84-8274-DCBE-8B64-36261B30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85" y="3645786"/>
            <a:ext cx="4087903" cy="2968078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35A70D2-8A9F-F891-0C4B-7DDF82C7E6E5}"/>
              </a:ext>
            </a:extLst>
          </p:cNvPr>
          <p:cNvSpPr/>
          <p:nvPr/>
        </p:nvSpPr>
        <p:spPr>
          <a:xfrm>
            <a:off x="6445622" y="5226423"/>
            <a:ext cx="1981201" cy="645459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8FDF78-67EC-6FA2-1A8D-859403EF6802}"/>
              </a:ext>
            </a:extLst>
          </p:cNvPr>
          <p:cNvSpPr txBox="1"/>
          <p:nvPr/>
        </p:nvSpPr>
        <p:spPr>
          <a:xfrm>
            <a:off x="8885946" y="4949948"/>
            <a:ext cx="215377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지원자 정보 수정에서 </a:t>
            </a:r>
            <a:endParaRPr lang="en-US" altLang="ko-KR" sz="1100" dirty="0"/>
          </a:p>
          <a:p>
            <a:r>
              <a:rPr lang="ko-KR" altLang="en-US" sz="1100" dirty="0"/>
              <a:t>추가 보험 금액을 기입하게 함</a:t>
            </a:r>
          </a:p>
        </p:txBody>
      </p:sp>
      <p:sp>
        <p:nvSpPr>
          <p:cNvPr id="24" name="번개 23">
            <a:extLst>
              <a:ext uri="{FF2B5EF4-FFF2-40B4-BE49-F238E27FC236}">
                <a16:creationId xmlns:a16="http://schemas.microsoft.com/office/drawing/2014/main" id="{CCA1D69A-BFFD-FA96-0BBF-23C85EAAECCF}"/>
              </a:ext>
            </a:extLst>
          </p:cNvPr>
          <p:cNvSpPr/>
          <p:nvPr/>
        </p:nvSpPr>
        <p:spPr>
          <a:xfrm rot="6190788">
            <a:off x="8482626" y="5090678"/>
            <a:ext cx="347516" cy="390163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04C3A-E490-2924-EA24-90E71AE37F2A}"/>
              </a:ext>
            </a:extLst>
          </p:cNvPr>
          <p:cNvSpPr txBox="1"/>
          <p:nvPr/>
        </p:nvSpPr>
        <p:spPr>
          <a:xfrm>
            <a:off x="119212" y="3312809"/>
            <a:ext cx="417504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질문</a:t>
            </a:r>
            <a:r>
              <a:rPr lang="en-US" altLang="ko-KR" sz="1400" b="1" dirty="0"/>
              <a:t>1: </a:t>
            </a:r>
            <a:r>
              <a:rPr lang="ko-KR" altLang="en-US" sz="1400" b="1" dirty="0"/>
              <a:t>각 차수 추가 마다의 추가보험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조건은 </a:t>
            </a:r>
            <a:r>
              <a:rPr lang="en-US" altLang="ko-KR" sz="1400" b="1" dirty="0"/>
              <a:t>?</a:t>
            </a:r>
          </a:p>
          <a:p>
            <a:r>
              <a:rPr lang="en-US" altLang="ko-KR" sz="1200" b="1" dirty="0"/>
              <a:t>(</a:t>
            </a:r>
            <a:r>
              <a:rPr lang="ko-KR" altLang="en-US" sz="1200" b="1" dirty="0"/>
              <a:t>추가 지급 때 마다 보험을 가입해야 하는지</a:t>
            </a:r>
            <a:r>
              <a:rPr lang="en-US" altLang="ko-KR" sz="1200" b="1" dirty="0"/>
              <a:t>?</a:t>
            </a:r>
          </a:p>
          <a:p>
            <a:r>
              <a:rPr lang="ko-KR" altLang="en-US" sz="1200" b="1" dirty="0"/>
              <a:t> 한번만 가입하면 되는 것인지</a:t>
            </a:r>
            <a:r>
              <a:rPr lang="en-US" altLang="ko-KR" sz="1200" b="1" dirty="0"/>
              <a:t>?)</a:t>
            </a:r>
          </a:p>
          <a:p>
            <a:br>
              <a:rPr lang="en-US" altLang="ko-KR" sz="1200" b="1" dirty="0"/>
            </a:br>
            <a:r>
              <a:rPr lang="en-US" altLang="ko-KR" sz="1200" b="1" dirty="0"/>
              <a:t>  1) 1</a:t>
            </a:r>
            <a:r>
              <a:rPr lang="ko-KR" altLang="en-US" sz="1200" b="1" dirty="0"/>
              <a:t>차 지급 전에 </a:t>
            </a:r>
            <a:r>
              <a:rPr lang="en-US" altLang="ko-KR" sz="1200" b="1" dirty="0"/>
              <a:t>7</a:t>
            </a:r>
            <a:r>
              <a:rPr lang="ko-KR" altLang="en-US" sz="1200" b="1" dirty="0"/>
              <a:t>만원 가입하면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차까지 추가지급</a:t>
            </a:r>
            <a:endParaRPr lang="en-US" altLang="ko-KR" sz="1200" b="1" dirty="0"/>
          </a:p>
          <a:p>
            <a:r>
              <a:rPr lang="en-US" altLang="ko-KR" sz="1200" b="1" dirty="0"/>
              <a:t>  2) 1</a:t>
            </a:r>
            <a:r>
              <a:rPr lang="ko-KR" altLang="en-US" sz="1200" b="1" dirty="0"/>
              <a:t>차 지급 전에 </a:t>
            </a:r>
            <a:r>
              <a:rPr lang="en-US" altLang="ko-KR" sz="1200" b="1" dirty="0"/>
              <a:t>7</a:t>
            </a:r>
            <a:r>
              <a:rPr lang="ko-KR" altLang="en-US" sz="1200" b="1" dirty="0"/>
              <a:t>만원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들어야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지급</a:t>
            </a:r>
            <a:endParaRPr lang="en-US" altLang="ko-KR" sz="1200" b="1" dirty="0"/>
          </a:p>
          <a:p>
            <a:r>
              <a:rPr lang="en-US" altLang="ko-KR" sz="1200" b="1" dirty="0"/>
              <a:t>    2</a:t>
            </a:r>
            <a:r>
              <a:rPr lang="ko-KR" altLang="en-US" sz="1200" b="1" dirty="0"/>
              <a:t>차 지급 전에 </a:t>
            </a:r>
            <a:r>
              <a:rPr lang="en-US" altLang="ko-KR" sz="1200" b="1" dirty="0"/>
              <a:t>14</a:t>
            </a:r>
            <a:r>
              <a:rPr lang="ko-KR" altLang="en-US" sz="1200" b="1" dirty="0"/>
              <a:t>만원</a:t>
            </a:r>
            <a:r>
              <a:rPr lang="en-US" altLang="ko-KR" sz="1200" b="1" dirty="0"/>
              <a:t>(+7</a:t>
            </a:r>
            <a:r>
              <a:rPr lang="ko-KR" altLang="en-US" sz="1200" b="1" dirty="0"/>
              <a:t>만원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들어야 </a:t>
            </a:r>
            <a:r>
              <a:rPr lang="en-US" altLang="ko-KR" sz="1200" b="1" dirty="0"/>
              <a:t>2</a:t>
            </a:r>
            <a:r>
              <a:rPr lang="ko-KR" altLang="en-US" sz="1200" b="1" dirty="0"/>
              <a:t>차 지급</a:t>
            </a:r>
            <a:endParaRPr lang="en-US" altLang="ko-KR" sz="1200" b="1" dirty="0"/>
          </a:p>
          <a:p>
            <a:r>
              <a:rPr lang="en-US" altLang="ko-KR" sz="1200" b="1" dirty="0"/>
              <a:t>    3</a:t>
            </a:r>
            <a:r>
              <a:rPr lang="ko-KR" altLang="en-US" sz="1200" b="1" dirty="0"/>
              <a:t>차 지급 전에 </a:t>
            </a:r>
            <a:r>
              <a:rPr lang="en-US" altLang="ko-KR" sz="1200" b="1" dirty="0"/>
              <a:t>21</a:t>
            </a:r>
            <a:r>
              <a:rPr lang="ko-KR" altLang="en-US" sz="1200" b="1" dirty="0"/>
              <a:t>만원</a:t>
            </a:r>
            <a:r>
              <a:rPr lang="en-US" altLang="ko-KR" sz="1200" b="1" dirty="0"/>
              <a:t>(+7</a:t>
            </a:r>
            <a:r>
              <a:rPr lang="ko-KR" altLang="en-US" sz="1200" b="1" dirty="0"/>
              <a:t>만원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들어야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차 지급</a:t>
            </a:r>
            <a:endParaRPr lang="en-US" altLang="ko-KR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6150A-BDF4-B28D-A0B7-68B7FEE53AD2}"/>
              </a:ext>
            </a:extLst>
          </p:cNvPr>
          <p:cNvSpPr txBox="1"/>
          <p:nvPr/>
        </p:nvSpPr>
        <p:spPr>
          <a:xfrm>
            <a:off x="0" y="5231265"/>
            <a:ext cx="41750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질문</a:t>
            </a:r>
            <a:r>
              <a:rPr lang="en-US" altLang="ko-KR" sz="1400" b="1" dirty="0"/>
              <a:t>2: </a:t>
            </a:r>
            <a:r>
              <a:rPr lang="ko-KR" altLang="en-US" sz="1400" b="1" dirty="0"/>
              <a:t>추가 보험금액을 입력하기 위한 방법은</a:t>
            </a:r>
            <a:r>
              <a:rPr lang="en-US" altLang="ko-KR" sz="1400" b="1" dirty="0"/>
              <a:t>?</a:t>
            </a:r>
            <a:br>
              <a:rPr lang="en-US" altLang="ko-KR" sz="1400" b="1" dirty="0"/>
            </a:br>
            <a:r>
              <a:rPr lang="en-US" altLang="ko-KR" sz="14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추가 보험 가입여부 판단 방법</a:t>
            </a:r>
            <a:r>
              <a:rPr lang="en-US" altLang="ko-KR" sz="1200" b="1" dirty="0"/>
              <a:t>)</a:t>
            </a:r>
            <a:br>
              <a:rPr lang="en-US" altLang="ko-KR" sz="1200" b="1" dirty="0"/>
            </a:br>
            <a:r>
              <a:rPr lang="en-US" altLang="ko-KR" sz="1200" b="1" dirty="0"/>
              <a:t>  1) </a:t>
            </a:r>
            <a:r>
              <a:rPr lang="ko-KR" altLang="en-US" sz="1200" b="1" dirty="0"/>
              <a:t>보험금 총액 만 기존 </a:t>
            </a:r>
            <a:r>
              <a:rPr lang="en-US" altLang="ko-KR" sz="1200" b="1" dirty="0"/>
              <a:t>UI</a:t>
            </a:r>
            <a:r>
              <a:rPr lang="ko-KR" altLang="en-US" sz="1200" b="1" dirty="0"/>
              <a:t>이용 입력</a:t>
            </a:r>
            <a:endParaRPr lang="en-US" altLang="ko-KR" sz="1200" b="1" dirty="0"/>
          </a:p>
          <a:p>
            <a:r>
              <a:rPr lang="en-US" altLang="ko-KR" sz="1200" b="1" dirty="0"/>
              <a:t>  2) </a:t>
            </a:r>
            <a:r>
              <a:rPr lang="ko-KR" altLang="en-US" sz="1200" b="1" dirty="0"/>
              <a:t>별도의 방법으로 입력</a:t>
            </a:r>
            <a:r>
              <a:rPr lang="en-US" altLang="ko-KR" sz="1200" b="1" dirty="0"/>
              <a:t>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61339-698B-9408-BCBD-84E725E44FC7}"/>
              </a:ext>
            </a:extLst>
          </p:cNvPr>
          <p:cNvSpPr txBox="1"/>
          <p:nvPr/>
        </p:nvSpPr>
        <p:spPr>
          <a:xfrm>
            <a:off x="15129" y="6206054"/>
            <a:ext cx="4175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질문</a:t>
            </a:r>
            <a:r>
              <a:rPr lang="en-US" altLang="ko-KR" sz="1400" b="1" dirty="0"/>
              <a:t>3: </a:t>
            </a:r>
            <a:r>
              <a:rPr lang="ko-KR" altLang="en-US" sz="1400" b="1" dirty="0"/>
              <a:t>다른 제한 있으면 예시를 제공해주세요</a:t>
            </a:r>
            <a:r>
              <a:rPr lang="en-US" altLang="ko-KR" sz="1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603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FE23-EA18-3A94-7AB1-E14BDD4F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4502308-D6D6-FA0E-36DF-84873A916B65}"/>
              </a:ext>
            </a:extLst>
          </p:cNvPr>
          <p:cNvSpPr txBox="1"/>
          <p:nvPr/>
        </p:nvSpPr>
        <p:spPr>
          <a:xfrm>
            <a:off x="311526" y="651946"/>
            <a:ext cx="44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비율 표시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FD397-D294-85B7-31D7-363DB389871B}"/>
              </a:ext>
            </a:extLst>
          </p:cNvPr>
          <p:cNvSpPr txBox="1"/>
          <p:nvPr/>
        </p:nvSpPr>
        <p:spPr>
          <a:xfrm>
            <a:off x="128016" y="3533582"/>
            <a:ext cx="4844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이름 옆에 등급을 표시한 것 처럼 </a:t>
            </a:r>
            <a:endParaRPr lang="en-US" altLang="ko-KR" sz="1400" b="1" dirty="0"/>
          </a:p>
          <a:p>
            <a:r>
              <a:rPr lang="en-US" altLang="ko-KR" sz="1400" b="1" dirty="0"/>
              <a:t>0.25, 0.5, 0.75, 1 </a:t>
            </a:r>
            <a:r>
              <a:rPr lang="ko-KR" altLang="en-US" sz="1400" b="1" dirty="0"/>
              <a:t>비율에 대한 표시방법을 제공해주세요</a:t>
            </a:r>
            <a:r>
              <a:rPr lang="en-US" altLang="ko-KR" sz="1400" b="1" dirty="0"/>
              <a:t>.</a:t>
            </a:r>
            <a:br>
              <a:rPr lang="en-US" altLang="ko-KR" sz="1200" b="1" dirty="0"/>
            </a:br>
            <a:endParaRPr lang="en-US" altLang="ko-KR" sz="12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4B6535-0CA5-F10D-9A97-4421FD04B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1070037"/>
            <a:ext cx="10911701" cy="128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5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972</Words>
  <Application>Microsoft Office PowerPoint</Application>
  <PresentationFormat>와이드스크린</PresentationFormat>
  <Paragraphs>445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용일 김</dc:creator>
  <cp:lastModifiedBy>JongHan Kim</cp:lastModifiedBy>
  <cp:revision>8</cp:revision>
  <dcterms:created xsi:type="dcterms:W3CDTF">2025-12-06T10:41:05Z</dcterms:created>
  <dcterms:modified xsi:type="dcterms:W3CDTF">2025-12-06T11:36:08Z</dcterms:modified>
</cp:coreProperties>
</file>